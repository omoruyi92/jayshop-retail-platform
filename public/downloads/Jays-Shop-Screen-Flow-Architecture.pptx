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</p:sldIdLst>
  <p:notesMasterIdLst>
    <p:notesMasterId r:id="rId3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notesMaster" Target="notesMasters/notesMaster1.xml"/><Relationship Id="rId38" Type="http://schemas.openxmlformats.org/officeDocument/2006/relationships/presProps" Target="presProps.xml"/><Relationship Id="rId39" Type="http://schemas.openxmlformats.org/officeDocument/2006/relationships/viewProps" Target="viewProps.xml"/><Relationship Id="rId40" Type="http://schemas.openxmlformats.org/officeDocument/2006/relationships/theme" Target="theme/theme1.xml"/><Relationship Id="rId4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480560"/>
            <a:ext cx="12191695" cy="45720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463040"/>
            <a:ext cx="121916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spc="3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14400" y="1965960"/>
            <a:ext cx="10362895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Complete Application Screen Flow &amp;</a:t>
            </a:r>
            <a:endParaRPr lang="en-US" sz="38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Architecture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1371600" y="3703320"/>
            <a:ext cx="944849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comprehensive map of every screen, workflow, and system interaction across the platform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484632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Experience  ·  Retail Operations  ·  Admin &amp; Inventory Systems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Document Roadmap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640080" y="141732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1554480" y="143560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Architecture Overview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54480" y="176479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customer, staff, and admin systems connect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13055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554480" y="214884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Customer-Facing Screens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554480" y="247802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page through checkout &amp; pickup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2843784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1554480" y="2862072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Hold Workflow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554480" y="3191256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Reservation, confirmation &amp; pickup lifecycle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40080" y="3557016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1554480" y="3575304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Operations Screens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904488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holds, reporting, POS &amp; governance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0080" y="4270248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600" dirty="0"/>
          </a:p>
        </p:txBody>
      </p:sp>
      <p:sp>
        <p:nvSpPr>
          <p:cNvPr id="19" name="Text 17"/>
          <p:cNvSpPr/>
          <p:nvPr/>
        </p:nvSpPr>
        <p:spPr>
          <a:xfrm>
            <a:off x="1554480" y="4288536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Journeys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554480" y="4617720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Customer, staff, and admin workflows combined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40080" y="4983480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1554480" y="5001768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&amp; System Logic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554480" y="5330952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lifecycle, hold lifecycle, decision points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696712"/>
            <a:ext cx="822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4141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1554480" y="5715000"/>
            <a:ext cx="5852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Scalability Considerations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554480" y="6044184"/>
            <a:ext cx="9692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architecture grows next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Screen Flow &amp; Feature Architecture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ARCHITECTURE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Three-Layer System Overview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34A8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Layer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134A8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340864"/>
            <a:ext cx="109728" cy="109728"/>
          </a:xfrm>
          <a:prstGeom prst="ellipse">
            <a:avLst/>
          </a:prstGeom>
          <a:solidFill>
            <a:srgbClr val="134A8E"/>
          </a:solidFill>
          <a:ln/>
        </p:spPr>
      </p:sp>
      <p:sp>
        <p:nvSpPr>
          <p:cNvPr id="10" name="Text 8"/>
          <p:cNvSpPr/>
          <p:nvPr/>
        </p:nvSpPr>
        <p:spPr>
          <a:xfrm>
            <a:off x="1005840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&amp; Discovery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2962656"/>
            <a:ext cx="109728" cy="109728"/>
          </a:xfrm>
          <a:prstGeom prst="ellipse">
            <a:avLst/>
          </a:prstGeom>
          <a:solidFill>
            <a:srgbClr val="134A8E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Catalog &amp; Search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77240" y="3584448"/>
            <a:ext cx="109728" cy="109728"/>
          </a:xfrm>
          <a:prstGeom prst="ellipse">
            <a:avLst/>
          </a:prstGeom>
          <a:solidFill>
            <a:srgbClr val="134A8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3456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Details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777240" y="4206240"/>
            <a:ext cx="109728" cy="109728"/>
          </a:xfrm>
          <a:prstGeom prst="ellipse">
            <a:avLst/>
          </a:prstGeom>
          <a:solidFill>
            <a:srgbClr val="134A8E"/>
          </a:solidFill>
          <a:ln/>
        </p:spPr>
      </p:sp>
      <p:sp>
        <p:nvSpPr>
          <p:cNvPr id="16" name="Text 14"/>
          <p:cNvSpPr/>
          <p:nvPr/>
        </p:nvSpPr>
        <p:spPr>
          <a:xfrm>
            <a:off x="1005840" y="40782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&amp; Digital Hold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77240" y="4828032"/>
            <a:ext cx="109728" cy="109728"/>
          </a:xfrm>
          <a:prstGeom prst="ellipse">
            <a:avLst/>
          </a:prstGeom>
          <a:solidFill>
            <a:srgbClr val="134A8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47000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 Confirmation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462272" y="1417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C4141C"/>
          </a:solidFill>
          <a:ln/>
        </p:spPr>
      </p:sp>
      <p:sp>
        <p:nvSpPr>
          <p:cNvPr id="20" name="Text 18"/>
          <p:cNvSpPr/>
          <p:nvPr/>
        </p:nvSpPr>
        <p:spPr>
          <a:xfrm>
            <a:off x="4462272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Layer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462272" y="205740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C414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90872" y="2340864"/>
            <a:ext cx="109728" cy="109728"/>
          </a:xfrm>
          <a:prstGeom prst="ellipse">
            <a:avLst/>
          </a:prstGeom>
          <a:solidFill>
            <a:srgbClr val="C4141C"/>
          </a:solidFill>
          <a:ln/>
        </p:spPr>
      </p:sp>
      <p:sp>
        <p:nvSpPr>
          <p:cNvPr id="23" name="Text 21"/>
          <p:cNvSpPr/>
          <p:nvPr/>
        </p:nvSpPr>
        <p:spPr>
          <a:xfrm>
            <a:off x="4919472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Fulfillment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690872" y="2962656"/>
            <a:ext cx="109728" cy="109728"/>
          </a:xfrm>
          <a:prstGeom prst="ellipse">
            <a:avLst/>
          </a:prstGeom>
          <a:solidFill>
            <a:srgbClr val="C4141C"/>
          </a:solidFill>
          <a:ln/>
        </p:spPr>
      </p:sp>
      <p:sp>
        <p:nvSpPr>
          <p:cNvPr id="25" name="Text 23"/>
          <p:cNvSpPr/>
          <p:nvPr/>
        </p:nvSpPr>
        <p:spPr>
          <a:xfrm>
            <a:off x="4919472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Management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4690872" y="3584448"/>
            <a:ext cx="109728" cy="109728"/>
          </a:xfrm>
          <a:prstGeom prst="ellipse">
            <a:avLst/>
          </a:prstGeom>
          <a:solidFill>
            <a:srgbClr val="C4141C"/>
          </a:solidFill>
          <a:ln/>
        </p:spPr>
      </p:sp>
      <p:sp>
        <p:nvSpPr>
          <p:cNvPr id="27" name="Text 25"/>
          <p:cNvSpPr/>
          <p:nvPr/>
        </p:nvSpPr>
        <p:spPr>
          <a:xfrm>
            <a:off x="4919472" y="3456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Sync (Sale/Return)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4690872" y="4206240"/>
            <a:ext cx="109728" cy="109728"/>
          </a:xfrm>
          <a:prstGeom prst="ellipse">
            <a:avLst/>
          </a:prstGeom>
          <a:solidFill>
            <a:srgbClr val="C4141C"/>
          </a:solidFill>
          <a:ln/>
        </p:spPr>
      </p:sp>
      <p:sp>
        <p:nvSpPr>
          <p:cNvPr id="29" name="Text 27"/>
          <p:cNvSpPr/>
          <p:nvPr/>
        </p:nvSpPr>
        <p:spPr>
          <a:xfrm>
            <a:off x="4919472" y="40782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 Configuration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4690872" y="4828032"/>
            <a:ext cx="109728" cy="109728"/>
          </a:xfrm>
          <a:prstGeom prst="ellipse">
            <a:avLst/>
          </a:prstGeom>
          <a:solidFill>
            <a:srgbClr val="C4141C"/>
          </a:solidFill>
          <a:ln/>
        </p:spPr>
      </p:sp>
      <p:sp>
        <p:nvSpPr>
          <p:cNvPr id="31" name="Text 29"/>
          <p:cNvSpPr/>
          <p:nvPr/>
        </p:nvSpPr>
        <p:spPr>
          <a:xfrm>
            <a:off x="4919472" y="4700016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8375904" y="1417320"/>
            <a:ext cx="3657600" cy="502920"/>
          </a:xfrm>
          <a:prstGeom prst="roundRect">
            <a:avLst>
              <a:gd name="adj" fmla="val 14545"/>
            </a:avLst>
          </a:prstGeom>
          <a:solidFill>
            <a:srgbClr val="14213D"/>
          </a:solidFill>
          <a:ln/>
        </p:spPr>
      </p:sp>
      <p:sp>
        <p:nvSpPr>
          <p:cNvPr id="33" name="Text 31"/>
          <p:cNvSpPr/>
          <p:nvPr/>
        </p:nvSpPr>
        <p:spPr>
          <a:xfrm>
            <a:off x="8375904" y="141732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Layer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8375904" y="2057400"/>
            <a:ext cx="3657600" cy="4023360"/>
          </a:xfrm>
          <a:prstGeom prst="roundRect">
            <a:avLst>
              <a:gd name="adj" fmla="val 2000"/>
            </a:avLst>
          </a:prstGeom>
          <a:solidFill>
            <a:srgbClr val="F4F6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604504" y="2340864"/>
            <a:ext cx="109728" cy="1097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6" name="Text 34"/>
          <p:cNvSpPr/>
          <p:nvPr/>
        </p:nvSpPr>
        <p:spPr>
          <a:xfrm>
            <a:off x="8833104" y="221284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&amp; Analytics</a:t>
            </a:r>
            <a:endParaRPr lang="en-US" sz="1250" dirty="0"/>
          </a:p>
        </p:txBody>
      </p:sp>
      <p:sp>
        <p:nvSpPr>
          <p:cNvPr id="37" name="Shape 35"/>
          <p:cNvSpPr/>
          <p:nvPr/>
        </p:nvSpPr>
        <p:spPr>
          <a:xfrm>
            <a:off x="8604504" y="2962656"/>
            <a:ext cx="109728" cy="1097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38" name="Text 36"/>
          <p:cNvSpPr/>
          <p:nvPr/>
        </p:nvSpPr>
        <p:spPr>
          <a:xfrm>
            <a:off x="8833104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Sentiment</a:t>
            </a:r>
            <a:endParaRPr lang="en-US" sz="1250" dirty="0"/>
          </a:p>
        </p:txBody>
      </p:sp>
      <p:sp>
        <p:nvSpPr>
          <p:cNvPr id="39" name="Shape 37"/>
          <p:cNvSpPr/>
          <p:nvPr/>
        </p:nvSpPr>
        <p:spPr>
          <a:xfrm>
            <a:off x="8604504" y="3584448"/>
            <a:ext cx="109728" cy="1097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40" name="Text 38"/>
          <p:cNvSpPr/>
          <p:nvPr/>
        </p:nvSpPr>
        <p:spPr>
          <a:xfrm>
            <a:off x="8833104" y="3456432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&amp; Governance</a:t>
            </a:r>
            <a:endParaRPr lang="en-US" sz="1250" dirty="0"/>
          </a:p>
        </p:txBody>
      </p:sp>
      <p:sp>
        <p:nvSpPr>
          <p:cNvPr id="41" name="Shape 39"/>
          <p:cNvSpPr/>
          <p:nvPr/>
        </p:nvSpPr>
        <p:spPr>
          <a:xfrm>
            <a:off x="8604504" y="4206240"/>
            <a:ext cx="109728" cy="109728"/>
          </a:xfrm>
          <a:prstGeom prst="ellipse">
            <a:avLst/>
          </a:prstGeom>
          <a:solidFill>
            <a:srgbClr val="14213D"/>
          </a:solidFill>
          <a:ln/>
        </p:spPr>
      </p:sp>
      <p:sp>
        <p:nvSpPr>
          <p:cNvPr id="42" name="Text 40"/>
          <p:cNvSpPr/>
          <p:nvPr/>
        </p:nvSpPr>
        <p:spPr>
          <a:xfrm>
            <a:off x="8833104" y="4078224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</a:t>
            </a:r>
            <a:endParaRPr lang="en-US" sz="1250" dirty="0"/>
          </a:p>
        </p:txBody>
      </p:sp>
      <p:sp>
        <p:nvSpPr>
          <p:cNvPr id="43" name="Text 41"/>
          <p:cNvSpPr/>
          <p:nvPr/>
        </p:nvSpPr>
        <p:spPr>
          <a:xfrm>
            <a:off x="548640" y="626364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layers read and write a single, shared inventory &amp; hold data model — ensuring the storefront, staff tools, and reporting are always in sync.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Screen Flow &amp; Feature Architecture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Landing Page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impression and orientation hub for every fan visiting the platform.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Communicate the brand, surface the next home game, and route fans into shopping or player content.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Sets expectations for a fast, guided experience and immediately connects merchandising to the live game schedule.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hero content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upcoming home game banner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How-It-Works steps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FAQ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323697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51129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none (public page)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links to Shop, Players, Brands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35254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626864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Shop Catalog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Popular Players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Upcoming Game Experience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banner showing the next scheduled Blue Jays home game.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fans at-a-glance context (date, first pitch time, opponent) that also drives hold-eligibility logic.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anticipation and ties the retail experience directly to game day — visible only when relevant, never as an empty state.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matchup (logos, date, time)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Recognize game-day context before shopping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live Game Day data from admin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none (informational)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Embedded on Landing Page only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Shop Catalog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product browsing experience across the full assortment.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fans filter, search, and scan real-time availability across every category and audience.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time-to-find for fans and surfaces only currently relevant, in-stock merchandising.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category/brand/audience/size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by keyword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&amp; scan live stock badges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filter/search selections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navigates to Product Details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Details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Brand Pages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Category Pages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Product Details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page for a single product, the decision-making moment of the journey.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fan every fact needed to commit: price, size, live availability by location, and reviews.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purchase confidence with transparent, location-level availability and social proof from other fans.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size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location availability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reviews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Favorites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 Hold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352958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803904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size/qty selection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Hold creation request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64515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91947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Digital Hold Workflow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Similar Products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Cart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Search &amp; Filtering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capability embedded in the Shop Catalog and category views.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large assortments to exactly what a fan is looking for in seconds.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conversion by removing browsing friction, especially on mobile during a live game.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keywords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category/brand/audience chips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filters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query text, filter chips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filtered product grid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across Shop, Brand, and Category views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Pages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Curated product listing for a single licensed brand partner.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brand-partner merchandising and let brand-loyal fans shop faster.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Strengthens brand-partner relationships by giving each brand a dedicated storefront presence.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brand index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brand-specific product grid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brand selection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filtered product 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Details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Category Pages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Audience- and category-scoped views (Men/Women/Kids, Featured, Sales &amp; Clearance, etc.).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Organize the full catalog into intuitive shopping paths beyond a single flat grid.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targeted campaigns (New Arrivals, Clearance) without duplicating product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a category tab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sub-filters (audience, product type)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category/subcategory selection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filtered product list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Product Details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CUSTOMER EXPERIENCE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Favorites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shortlist of products a fan wants to track or revisit.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fans save items across sessions without requiring an account.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Encourages return visits and gives management a signal on product desirability.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Heart a product from any card or detail page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favorites drawer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an item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like/unlike toggle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synced favorites list across the app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from Header on every page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Customer-Facing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DIGITAL HOLD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Hold Workflow (Reserve)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In-line reservation flow launched from Product Details.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a browsing fan into a confirmed reservation against live, location-aware inventory.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anxiety of walk-in retail — fans lock in an item before ever leaving home.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size &amp; quantity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pickup channel (Gate 5 or Stadium Queue)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phone number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reservation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323697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51129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product, size, qty, phone, channel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Hold record + reservation code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352544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626864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Hold Confirmation / Receipt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Digital Hold Workflow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DIGITAL HOLD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Confirmation &amp; Digital Receipt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Post-reservation confirmation screen with all pickup details.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the fan a single, shareable source of truth for their reservation status and deadline.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trust with a visible countdown, queue ETA (for Stadium Queue), and clear next steps.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reservation code &amp; expiry countdown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pickup location &amp; instructions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later via lookup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reservation ID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none (read-only receipt)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Customer Pickup Experience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My Holds lookup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Digital Hold Workflow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DIGITAL HOLD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Pickup Experience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physical handoff moment at Gate 5 or the Stadium Queue counter.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staff quickly verify and resolve a hold — full or partial — with minimal friction.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fast, predictable pickup reinforces the platform's core promise of certainty and speed.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reservation code/receipt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scans or looks up the hold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item(s)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reservation code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updated hold status (Picked Up / Partial)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Hold Confirmation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Admin Hold Management (staff side)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Digital Hold Workflow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DIGITAL HOLD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My Holds / Account Lookup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Self-service, account-free lookup of a fan's active and past reservations.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any fan retrieve their hold status using only a phone number.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Removes the burden of account creation while still giving fans full visibility and control.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phone number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all active/past holds and statuses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phone number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list of Hold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Individual Hold Receipt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Digital Hold Workflow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DIGITAL HOLD WORKFLOW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Lifecycle &amp; Decision Logic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34A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(ACTIVE)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127248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➜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C4141C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Game-Day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Eligibility Check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61888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➜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544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34A8E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Awaiting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Pickup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796528" y="1691640"/>
            <a:ext cx="320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4213D"/>
                </a:solidFill>
              </a:rPr>
              <a:t>➜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9144000" y="1554480"/>
            <a:ext cx="2468880" cy="822960"/>
          </a:xfrm>
          <a:prstGeom prst="roundRect">
            <a:avLst>
              <a:gd name="adj" fmla="val 11111"/>
            </a:avLst>
          </a:prstGeom>
          <a:solidFill>
            <a:srgbClr val="134A8E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0" y="1554480"/>
            <a:ext cx="2468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0080" y="2514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123 (Stadium Queue) holds are only permitted when isGameDay() is true — enforced server-side regardless of client state.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0080" y="3063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RESOLUTION OUTCOMES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33832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(full)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83280" y="33832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Pickup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(split)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126480" y="33832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12648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869680" y="3383280"/>
            <a:ext cx="2468880" cy="777240"/>
          </a:xfrm>
          <a:prstGeom prst="roundRect">
            <a:avLst>
              <a:gd name="adj" fmla="val 11765"/>
            </a:avLst>
          </a:prstGeom>
          <a:solidFill>
            <a:srgbClr val="F4F6F9"/>
          </a:solidFill>
          <a:ln w="12700">
            <a:solidFill>
              <a:srgbClr val="14213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869680" y="3383280"/>
            <a:ext cx="2468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(auto)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40080" y="4434840"/>
            <a:ext cx="10881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hold: 3–4 hrs (configurable) · Extended Gate 5 hold: up to 48 hrs — auto-disabled on game days.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Maximum 3 active holds per customer, enforced automatically at creation.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pickup automatically splits the remaining quantity into a new ACTIVE hold with the original expiry preserved.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Expired holds are auto-released back into sellable inventory via a scheduled job — no manual cleanup required.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Digital Hold Workflow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Admin Dashboard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screen for staff after login.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active holds and urgent expirations the moment a staff member signs in.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staff start their shift already knowing what needs attention first.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live active-hold list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urgent (near-expiry) holds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to full Holds queue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session/role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navigation to detail screens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Hold Management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Reports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Management (Products)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product catalog CRUD for merchandising and stock setup.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accurate product data — pricing, sizing, imagery, and category/badge classification.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storefront accurate and lets merchandising react quickly to new drops or promotions.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Create/edit/archive products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category, audience, brand, badges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per-size quantities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product form data &amp; images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updated Product + SizeInventory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Inventory History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Hold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operational queue of all active reservations.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staff fulfill, partially fulfill, or release holds quickly and accurately.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pickup into a guided, low-error task rather than a manual judgment call.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status/phone/code/date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Pickup Modal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fulfilled quantity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fulfilled quantity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updated Hold status + inventory sync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History (archived holds)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Print Receipt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 &amp; Clearance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for marking products Sale/Clearance and assigning subcategories.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markdown merchandising without creating duplicate product entries.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clearance merchandising organized and filterable for fans by audience (Men/Women/Kids/Accessories).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Clearance flag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 subcategory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sale price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clearance flag + subcategory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updated Product record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 Sales &amp; Clearance catalog view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Reporting &amp; Analytics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Executive-facing performance dashboard.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Summarize holds, conversion, no-show rate, and revenue over selectable time windows.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management the data needed for purchasing, staffing, and promotional decisions.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reporting period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KPIs &amp; top products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CSV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date range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aggregated metrics, CSV export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Standalone reporting hub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Game Day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of scheduled home games that drives platform-wide game-day logic.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the single source of truth for date, first-pitch time, and opponent.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the landing page banner and hold-eligibility rules perfectly synchronized with real schedule data.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Add/edit/delete game day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opponent &amp; first-pitch time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date, time, opponent, note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GameDay record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Landing Page banner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Hold eligibility logic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Notifications (Slack Integration)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staff alerting configuration.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Notify the team automatically when holds are created or expire.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fulfillment proactive rather than reactive, especially during high-volume windows.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webhook &amp; channel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test notification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webhook URL/channel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Slack messages on hold events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Hold Management workflow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Customer Queue Management (Stadium Queue)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Operational view of the game-day express pickup lane (Section 123).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 staff visibility into queue position and ETA for in-stadium fans.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a fast-lane experience precisely when foot traffic is highest.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 queue position/ETA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 stadium holds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hold status filter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resolved hold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Subset of Hold Management, filtered to Stadium Queue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Player &amp; Brand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 for the Popular Players hub and Brand partner pages.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player profiles and brand storefronts current and linked to shoppable gear.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player-driven and brand-driven merchandising campaigns without engineering effort.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Create/edit player or brand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products to a player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featured/trending flags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profile data, image uploads, product links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Player/Brand + PlayerProduct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Public Players &amp; Brands pages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 Integration Suite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 management, event log, and simulator for the in-person point-of-sale terminal.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in-person sales/returns synchronized with the same inventory ledger as the online store.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Guarantees one accurate stock count across every sales channel.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9692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Generate/revoke API keys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POS event log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 simulated transactions for testing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94436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3218688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POS transaction payloads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InventoryTransaction + PosEvent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4059936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334256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Feeds Inventory Management &amp;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Reviews &amp; Feedback Management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view of product reviews, likes, and general site feedback.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fan sentiment to inform merchandising and site experience decisions.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Turns qualitative fan input into an actionable, management-visible signal.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ratings &amp; sentiment trend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Read/delete site feedback submissions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none (read/moderate)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moderation actions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Reporting &amp; Analytics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ADMIN &amp; OPERATIONS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Governance: Audit Log &amp; Admin Roles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5623560" cy="5074920"/>
          </a:xfrm>
          <a:prstGeom prst="rect">
            <a:avLst/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PURPOSE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77240" y="17922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System-wide accountability and access-control layer.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4505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 OBJECTIVE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27066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Ensure every sensitive action is attributable and every staff member has appropriately scoped access.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33649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&amp; CUSTOMER EXPERIENCE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621024"/>
            <a:ext cx="5166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1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Protects the business with full traceability and least-privilege access by design.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355080" y="1371600"/>
            <a:ext cx="5623560" cy="5074920"/>
          </a:xfrm>
          <a:prstGeom prst="rect">
            <a:avLst/>
          </a:prstGeom>
          <a:solidFill>
            <a:srgbClr val="FFFFFF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536192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ACTIONS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583680" y="1810512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audit trail (filter/export)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 admin accounts &amp; roles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583680" y="2651760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/ OUTPUTS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83680" y="2926080"/>
            <a:ext cx="5166360" cy="6766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In: filter criteria / role assignment</a:t>
            </a:r>
            <a:endParaRPr lang="en-US" sz="1050" dirty="0"/>
          </a:p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Out: AuditLog records / Admin records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583680" y="3767328"/>
            <a:ext cx="5166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134A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 FLOW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583680" y="4041648"/>
            <a:ext cx="5166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52400" indent="-152400">
              <a:lnSpc>
                <a:spcPct val="105000"/>
              </a:lnSpc>
              <a:spcAft>
                <a:spcPts val="300"/>
              </a:spcAft>
              <a:buSzPct val="100000"/>
              <a:buChar char="▪"/>
            </a:pPr>
            <a:r>
              <a:rPr lang="en-US" sz="10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 — supports every admin screen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Admin &amp; Operations Screens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JOURNEYS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Customer Journey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90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 on homepage and see the upcoming home game banner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" y="2011680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2128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the Shop Catalog or Popular Players hub to discover gear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2715768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29169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986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Product Details and review live, location-aware availability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" y="3419856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36210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6027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a Digital Hold — choose size, quantity, and pickup channel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" y="4123944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" y="43251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3068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 instant confirmation with a reservation code and countdown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1540" y="4828032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0109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Arrive at the stadium and collect the item at Gate 5 or the Stadium Queue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1540" y="5532120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57332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34A8E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733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5715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Optionally look up hold history anytime via phone number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End-to-End Journeys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JOURNEYS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Staff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90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in to the Admin Dashboard and review active/urgent holds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" y="2011680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2128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the Hold Management queue throughout the shift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2715768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29169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986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Verify a fan's reservation code at pickup and open the Pickup Modal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" y="3419856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36210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6027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Fulfill in full or enter a partial quantity — inventory updates automatically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" y="4123944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" y="43251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3068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in-person sales/returns at the POS terminal, synced to the same ledger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1540" y="4828032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C4141C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0109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Escalate exceptions to a Supervisor/Manager as needed via role-based access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End-to-End Journeys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JOURNEYS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End-to-End Admin / Management Workflow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50876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71600" y="149047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the season's Game Day calendar and hold policy settings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91540" y="2011680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0" name="Shape 8"/>
          <p:cNvSpPr/>
          <p:nvPr/>
        </p:nvSpPr>
        <p:spPr>
          <a:xfrm>
            <a:off x="640080" y="221284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21284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71600" y="219456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product catalog, brand partners, and player profiles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1540" y="2715768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640080" y="2916936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91693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2898648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manage POS API keys per store location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91540" y="3419856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18" name="Shape 16"/>
          <p:cNvSpPr/>
          <p:nvPr/>
        </p:nvSpPr>
        <p:spPr>
          <a:xfrm>
            <a:off x="640080" y="3621024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6210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371600" y="3602736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Analytics and Inventory Health dashboards for stock risk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91540" y="4123944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640080" y="4325112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32511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371600" y="4306824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Reports for KPIs, top products, and revenue trends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91540" y="4828032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26" name="Shape 24"/>
          <p:cNvSpPr/>
          <p:nvPr/>
        </p:nvSpPr>
        <p:spPr>
          <a:xfrm>
            <a:off x="640080" y="502920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50292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371600" y="5010912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system activity and manage staff roles for governance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91540" y="5532120"/>
            <a:ext cx="0" cy="201168"/>
          </a:xfrm>
          <a:prstGeom prst="line">
            <a:avLst/>
          </a:prstGeom>
          <a:noFill/>
          <a:ln w="15875">
            <a:solidFill>
              <a:srgbClr val="5A6472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640080" y="5733288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14213D"/>
          </a:solidFill>
          <a:ln/>
        </p:spPr>
      </p:sp>
      <p:sp>
        <p:nvSpPr>
          <p:cNvPr id="31" name="Text 29"/>
          <p:cNvSpPr/>
          <p:nvPr/>
        </p:nvSpPr>
        <p:spPr>
          <a:xfrm>
            <a:off x="640080" y="573328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1371600" y="5715000"/>
            <a:ext cx="10058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insights to inform purchasing, staffing, and promotional planning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End-to-End Journeys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FLOW &amp; SYSTEM LOGIC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Inventory Lifecycle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7373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4A8E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7373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Received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15768" y="1965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➜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017520" y="17373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C4141C"/>
          </a:solidFill>
          <a:ln/>
        </p:spPr>
      </p:sp>
      <p:sp>
        <p:nvSpPr>
          <p:cNvPr id="10" name="Text 8"/>
          <p:cNvSpPr/>
          <p:nvPr/>
        </p:nvSpPr>
        <p:spPr>
          <a:xfrm>
            <a:off x="3017520" y="17373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Available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(by size + location)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184648" y="1965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➜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0" y="17373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4A8E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0" y="17373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(Hold)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653528" y="1965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➜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7955280" y="17373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C4141C"/>
          </a:solidFill>
          <a:ln/>
        </p:spPr>
      </p:sp>
      <p:sp>
        <p:nvSpPr>
          <p:cNvPr id="16" name="Text 14"/>
          <p:cNvSpPr/>
          <p:nvPr/>
        </p:nvSpPr>
        <p:spPr>
          <a:xfrm>
            <a:off x="7955280" y="17373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Sold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Up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122408" y="196596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213D"/>
                </a:solidFill>
              </a:rPr>
              <a:t>➜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0424160" y="1737360"/>
            <a:ext cx="2148840" cy="914400"/>
          </a:xfrm>
          <a:prstGeom prst="roundRect">
            <a:avLst>
              <a:gd name="adj" fmla="val 10000"/>
            </a:avLst>
          </a:prstGeom>
          <a:solidFill>
            <a:srgbClr val="134A8E"/>
          </a:solidFill>
          <a:ln/>
        </p:spPr>
      </p:sp>
      <p:sp>
        <p:nvSpPr>
          <p:cNvPr id="19" name="Text 17"/>
          <p:cNvSpPr/>
          <p:nvPr/>
        </p:nvSpPr>
        <p:spPr>
          <a:xfrm>
            <a:off x="10424160" y="1737360"/>
            <a:ext cx="2148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/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Adjusted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48640" y="3108960"/>
            <a:ext cx="11064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stage transition writes an immutable InventoryTransaction record (type: transfer/adjustment/sale/return/hold-reserve/hold-release).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Product-level totals are always derived (synced) from size + location-level SizeInventory records — never edited directly.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 sales/returns and online Holds write to the exact same ledger, keeping every channel reconciled in real time.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Data Flow &amp; System Logic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DATA FLOW &amp; SYSTEM LOGIC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Cross-Module Data Flow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0876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50876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Game Day Calendar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150876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drives → 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937760" y="1508760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0" y="150876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Landing Banner + Hold Eligibility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221992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22199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Catalog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429000" y="2221992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feeds → 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937760" y="2221992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937760" y="2221992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 Catalog, Brand &amp; Category Pages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2935224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93522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Hold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429000" y="2935224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writes → 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937760" y="2935224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937760" y="2935224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SizeInventory + InventoryTransaction + AuditLog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3648456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6484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 Terminal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3429000" y="3648456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writes → 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3648456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3648456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SizeInventory + InventoryTransaction + PosEvent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48640" y="4361688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436168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Resolution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3429000" y="4361688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generates → 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937760" y="4361688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4361688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HoldHistory + SalesHistory (for Reporting)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548640" y="5074920"/>
            <a:ext cx="2834640" cy="548640"/>
          </a:xfrm>
          <a:prstGeom prst="roundRect">
            <a:avLst>
              <a:gd name="adj" fmla="val 13333"/>
            </a:avLst>
          </a:prstGeom>
          <a:solidFill>
            <a:srgbClr val="14213D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50749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Likes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3429000" y="5074920"/>
            <a:ext cx="1463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414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feeds → 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37760" y="5074920"/>
            <a:ext cx="6217920" cy="548640"/>
          </a:xfrm>
          <a:prstGeom prst="roundRect">
            <a:avLst>
              <a:gd name="adj" fmla="val 13333"/>
            </a:avLst>
          </a:prstGeom>
          <a:solidFill>
            <a:srgbClr val="F4F6F9"/>
          </a:solidFill>
          <a:ln w="9525">
            <a:solidFill>
              <a:srgbClr val="D8E0EC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5074920"/>
            <a:ext cx="6217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&amp; Feedback Analytics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Data Flow &amp; System Logic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46304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LOOKING AHEAD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Scalability Considerations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134A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5564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Additional Locations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331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location model to new sections or venues without redesigning inventory logic.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63640" y="155448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2700">
            <a:solidFill>
              <a:srgbClr val="134A8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37960" y="175564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Planning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37960" y="233172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demand forecasting on top of existing game-schedule and hold-conversion data.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EAF1FB"/>
          </a:solidFill>
          <a:ln w="12700">
            <a:solidFill>
              <a:srgbClr val="134A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22960" y="4178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Expanded POS Reach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22960" y="4754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 additional terminals or partner venues onto the same unified ledger.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4348"/>
            </a:avLst>
          </a:prstGeom>
          <a:solidFill>
            <a:srgbClr val="F4F6F9"/>
          </a:solidFill>
          <a:ln w="12700">
            <a:solidFill>
              <a:srgbClr val="134A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4178808"/>
            <a:ext cx="4800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Deeper Fan Engagement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537960" y="4754880"/>
            <a:ext cx="4800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222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 the Favorites/Players data into loyalty-style recognition and campaigns.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7200" y="65196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— Scalability Considerations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521440" y="6519672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063240"/>
            <a:ext cx="12191695" cy="45720"/>
          </a:xfrm>
          <a:prstGeom prst="rect">
            <a:avLst/>
          </a:prstGeom>
          <a:solidFill>
            <a:srgbClr val="C4141C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2103120"/>
            <a:ext cx="103628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Platform Built on Business Logic,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Just Screens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1645920" y="3291840"/>
            <a:ext cx="889985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EAF1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screen in this architecture ties back to one goal: a faster, more certain path from discovery to pickup — for every fan, every game day.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914400" y="6035040"/>
            <a:ext cx="103628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FB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Jays Shop  ·  Screen Flow &amp; Feature Architecture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2026-07-07T17:49:21Z</dcterms:created>
  <dcterms:modified xsi:type="dcterms:W3CDTF">2026-07-07T17:49:21Z</dcterms:modified>
</cp:coreProperties>
</file>